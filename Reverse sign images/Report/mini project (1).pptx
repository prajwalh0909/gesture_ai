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mpact" charset="1" panose="020B0806030902050204"/>
      <p:regular r:id="rId19"/>
    </p:embeddedFont>
    <p:embeddedFont>
      <p:font typeface="Clear Sans Bold" charset="1" panose="020B0803030202020304"/>
      <p:regular r:id="rId20"/>
    </p:embeddedFont>
    <p:embeddedFont>
      <p:font typeface="Clear Sans" charset="1" panose="020B0503030202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jpeg" Type="http://schemas.openxmlformats.org/officeDocument/2006/relationships/image"/><Relationship Id="rId7" Target="../media/VAGq5THMWN8.mp4" Type="http://schemas.openxmlformats.org/officeDocument/2006/relationships/video"/><Relationship Id="rId8" Target="../media/VAGq5THMWN8.mp4" Type="http://schemas.microsoft.com/office/2007/relationships/media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87940" y="130928"/>
            <a:ext cx="5658388" cy="1043423"/>
          </a:xfrm>
          <a:custGeom>
            <a:avLst/>
            <a:gdLst/>
            <a:ahLst/>
            <a:cxnLst/>
            <a:rect r="r" b="b" t="t" l="l"/>
            <a:pathLst>
              <a:path h="1043423" w="5658388">
                <a:moveTo>
                  <a:pt x="0" y="0"/>
                </a:moveTo>
                <a:lnTo>
                  <a:pt x="5658388" y="0"/>
                </a:lnTo>
                <a:lnTo>
                  <a:pt x="5658388" y="1043423"/>
                </a:lnTo>
                <a:lnTo>
                  <a:pt x="0" y="1043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45" t="0" r="-6345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39558" y="1454575"/>
            <a:ext cx="12697994" cy="703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34"/>
              </a:lnSpc>
            </a:pPr>
          </a:p>
          <a:p>
            <a:pPr algn="ctr">
              <a:lnSpc>
                <a:spcPts val="10934"/>
              </a:lnSpc>
            </a:pPr>
            <a:r>
              <a:rPr lang="en-US" sz="10616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 G</a:t>
            </a:r>
            <a:r>
              <a:rPr lang="en-US" sz="10616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esture Talk AI </a:t>
            </a:r>
          </a:p>
          <a:p>
            <a:pPr algn="ctr">
              <a:lnSpc>
                <a:spcPts val="10934"/>
              </a:lnSpc>
            </a:pPr>
            <a:r>
              <a:rPr lang="en-US" sz="10616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Real-Time Sign Language Detection to Text </a:t>
            </a:r>
          </a:p>
          <a:p>
            <a:pPr algn="ctr">
              <a:lnSpc>
                <a:spcPts val="870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260647" y="8068511"/>
            <a:ext cx="6808278" cy="42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3206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Presented By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17005" y="8627201"/>
            <a:ext cx="680827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Prajwal H N (1NH24AI407)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17005" y="9130466"/>
            <a:ext cx="680827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Omkar Maruti Naik (1NH24AI405)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17005" y="9611960"/>
            <a:ext cx="680827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Santhosha (1NH24AI409)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0730" y="8068511"/>
            <a:ext cx="6808278" cy="42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3206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Under the Guidance of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10730" y="8558966"/>
            <a:ext cx="680827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Ms. Prof:- K S Shashikala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Sr. Assistant Professor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Department of AI &amp; ML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NHCE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520746" y="9741593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783" y="9741593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0746" y="873506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8"/>
                </a:lnTo>
                <a:lnTo>
                  <a:pt x="0" y="1006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520746" y="672200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520746" y="772853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485783" y="672200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520746" y="571547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2312" y="873506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8"/>
                </a:lnTo>
                <a:lnTo>
                  <a:pt x="0" y="1006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10800000">
            <a:off x="1492312" y="772853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945511" y="1181100"/>
            <a:ext cx="10085565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INTRODUCTION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54293" y="2881468"/>
            <a:ext cx="1354003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There are over </a:t>
            </a: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70 million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monthly active users of sign language worldwide, yet the majority of the global population does not understand it.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In India alone, an estimated </a:t>
            </a: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4.5 million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deaf individuals rely on Indian Sign Language (ISL),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954293" y="5894946"/>
            <a:ext cx="1354003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eading to s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gn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fica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 communication barriers that isolate the Deaf and Hard of Hearing (DHH) community.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Gesture Talk AI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is our innovative so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ut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ion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that aims to provide real-time conversion of sign language into speech and text using advanced AI technology.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5223" y="1097301"/>
            <a:ext cx="9159943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7931" y="2570203"/>
            <a:ext cx="11276661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Gesture Talk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AI 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is a real-time Indian Sign Language (ISL) recognition system that converts hand gestures into speech and text using AI.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It uses OpenCV for video capture and MediaPipe to detect </a:t>
            </a: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21 hand landmarks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per frame. These landmarks are processed and classified using a CNN model built with Keras, supporting 35 ISL gestures</a:t>
            </a: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(A–Z, 1–9)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The system achieved </a:t>
            </a:r>
            <a:r>
              <a:rPr lang="en-US" b="true" sz="2499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91%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test accuracy, demonstrating strong performance across diverse gestures. Text output is converted to speech using TTS engines like pyttsx3 or GTTS.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Designed to work offline and in real time, it aims to improve communication access for the Deaf and Hard-of-Hearing community in India.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71306" y="774667"/>
            <a:ext cx="9159943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PROBLEMS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6375" y="2388804"/>
            <a:ext cx="10575251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Communication Barriers: Without widespread understanding of sign language, DHH individuals often struggle to communicate in schools, workplaces, and public spaces, leading to isolation and misunderstanding.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56375" y="5425643"/>
            <a:ext cx="10575251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Limited Access to Services: Many essential services—such as healthcare, education, and government facilities—lack sign language interpreters or accessible technologies, making it difficult for DHH people to receive equal support and opportunities.</a:t>
            </a:r>
          </a:p>
        </p:txBody>
      </p:sp>
      <p:sp>
        <p:nvSpPr>
          <p:cNvPr name="Freeform 14" id="14"/>
          <p:cNvSpPr/>
          <p:nvPr/>
        </p:nvSpPr>
        <p:spPr>
          <a:xfrm flipH="true" flipV="true" rot="-10800000">
            <a:off x="17510377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5497319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17716117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-10800000">
            <a:off x="16709588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709588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49328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64028" y="1961062"/>
            <a:ext cx="9159943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6375" y="3477808"/>
            <a:ext cx="10575251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Break communication barriers with a real-time gesture recognition system.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Leverage OpenCV and Media Pipe for robust hand detection.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Ensure offline capability and a smooth user interface.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Enable inclusive communication across society.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true" flipV="true" rot="-10800000">
            <a:off x="1751990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550684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72564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71911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71911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5885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5005" y="497205"/>
            <a:ext cx="1043799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2219" y="2179287"/>
            <a:ext cx="12143562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1. OpenCV 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(Open Source Computer Vision Library): OpenCV is used to capture and process real-time video input from the webcam. It handles: Frame by-frame video streaming. Display of detection results (e.g., bounding boxes, labels).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     Preprocessing images before feeding into models (like resizing, color conversion).It acts as the interface between the camera and the gesture recognition pipeline.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2. MediaPipe: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MediaPipe that helps in provides a real-time hand tracking solution by detecting and extracting 21 key landmarks per hand with high accuracy.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     It serves as the core feature extractor, enabling: Detection of single or both hands.Tracking hand movement in 2D space. Generating consistent input features (landmark coordinates) for the classification model.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5005" y="497205"/>
            <a:ext cx="1043799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82332" y="1915877"/>
            <a:ext cx="12143562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3. Keras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(with TensorFlow backend): Keras is used to design, train, and deploy the CNN model that classifies the extracted hand landmarks into specific sign language gestures. It offers: To buil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neural network architecture.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     Training on labeled hand gesture datasets. High-performance prediction on real-time inputs.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4. Text-to-Speech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(TTS) engine converts written text into spoken audio using AI and speech synthesis. In gesture recognition, once a hand gesture is translated into text, the TTS engine vocalizes it, enabling real-time verbal communication.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     pyttsx3 – Offline, Python-based, supports multiple voices. gTTS – Online, uses Google’s natural-sounding voice models.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49739" y="1116214"/>
            <a:ext cx="5293581" cy="3912209"/>
          </a:xfrm>
          <a:custGeom>
            <a:avLst/>
            <a:gdLst/>
            <a:ahLst/>
            <a:cxnLst/>
            <a:rect r="r" b="b" t="t" l="l"/>
            <a:pathLst>
              <a:path h="3912209" w="5293581">
                <a:moveTo>
                  <a:pt x="0" y="0"/>
                </a:moveTo>
                <a:lnTo>
                  <a:pt x="5293581" y="0"/>
                </a:lnTo>
                <a:lnTo>
                  <a:pt x="5293581" y="3912208"/>
                </a:lnTo>
                <a:lnTo>
                  <a:pt x="0" y="3912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9739" y="5370068"/>
            <a:ext cx="5293581" cy="3800718"/>
          </a:xfrm>
          <a:custGeom>
            <a:avLst/>
            <a:gdLst/>
            <a:ahLst/>
            <a:cxnLst/>
            <a:rect r="r" b="b" t="t" l="l"/>
            <a:pathLst>
              <a:path h="3800718" w="5293581">
                <a:moveTo>
                  <a:pt x="0" y="0"/>
                </a:moveTo>
                <a:lnTo>
                  <a:pt x="5293581" y="0"/>
                </a:lnTo>
                <a:lnTo>
                  <a:pt x="5293581" y="3800718"/>
                </a:lnTo>
                <a:lnTo>
                  <a:pt x="0" y="3800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98" r="0" b="-166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2873979" y="497205"/>
            <a:ext cx="1043799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RESULT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5016" y="2108465"/>
            <a:ext cx="6766392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The model showed high classification accuracy across all alphabetic (A–Z) and numeric (1–9) gestures, proving its effectiveness in recognizing subtle hand differences. 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Training and validation graphs indicated stable convergence with minimal overfitting. The confusion matrix showed strong performance across most classes, though a few visually similar gestures were misclassified. </a:t>
            </a:r>
          </a:p>
        </p:txBody>
      </p:sp>
      <p:sp>
        <p:nvSpPr>
          <p:cNvPr name="Freeform 14" id="14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19099" y="4467332"/>
            <a:ext cx="5997473" cy="4984742"/>
          </a:xfrm>
          <a:custGeom>
            <a:avLst/>
            <a:gdLst/>
            <a:ahLst/>
            <a:cxnLst/>
            <a:rect r="r" b="b" t="t" l="l"/>
            <a:pathLst>
              <a:path h="4984742" w="5997473">
                <a:moveTo>
                  <a:pt x="0" y="0"/>
                </a:moveTo>
                <a:lnTo>
                  <a:pt x="5997473" y="0"/>
                </a:lnTo>
                <a:lnTo>
                  <a:pt x="5997473" y="4984742"/>
                </a:lnTo>
                <a:lnTo>
                  <a:pt x="0" y="4984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2873979" y="497205"/>
            <a:ext cx="1043799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4575" y="5651373"/>
            <a:ext cx="825472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The matrix reflects the model’s performance across 35 distinct gesture classes,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</a:t>
            </a: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ncluding 26 alphabets (A–Z) and 9 digits (1–9), offering valuable insights into gesture-specific accuracy and areas needing improvement.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5016" y="1845167"/>
            <a:ext cx="1150513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The confusion matrix provides a comprehensive summary of the classification model’s performance. Each row indicates the actual gesture class, while each column represents the class predicted by the model.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This layout highlights correct classifications along the diagonal and pinpoints misclassifications in off-diagonal entries. </a:t>
            </a:r>
          </a:p>
        </p:txBody>
      </p:sp>
      <p:sp>
        <p:nvSpPr>
          <p:cNvPr name="Freeform 14" id="14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93384" y="1809426"/>
            <a:ext cx="13142778" cy="6357819"/>
          </a:xfrm>
          <a:custGeom>
            <a:avLst/>
            <a:gdLst/>
            <a:ahLst/>
            <a:cxnLst/>
            <a:rect r="r" b="b" t="t" l="l"/>
            <a:pathLst>
              <a:path h="6357819" w="13142778">
                <a:moveTo>
                  <a:pt x="0" y="0"/>
                </a:moveTo>
                <a:lnTo>
                  <a:pt x="13142778" y="0"/>
                </a:lnTo>
                <a:lnTo>
                  <a:pt x="13142778" y="6357819"/>
                </a:lnTo>
                <a:lnTo>
                  <a:pt x="0" y="6357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5005" y="497205"/>
            <a:ext cx="1043799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OUTPUT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64028" y="271402"/>
            <a:ext cx="9159943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1249" y="1959849"/>
            <a:ext cx="12675702" cy="703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The developed Indian Sign Language (ISL) recognition system using CNNs has proven to be highly accurate and reliable, achieving 91% test accuracy with perfect precision, recall, and F1-scores across all gesture classes. </a:t>
            </a:r>
          </a:p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Supported by a robust dataset and effective preprocessing, the model demonstrates strong potential for real-time application in assistive communication.</a:t>
            </a:r>
          </a:p>
          <a:p>
            <a:pPr algn="just">
              <a:lnSpc>
                <a:spcPts val="4349"/>
              </a:lnSpc>
            </a:pPr>
          </a:p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Looking ahead, incorporating dynamic gestures, advanced deep learning architectures, and bidirectional translation capabilities can further enhance its effectiveness. </a:t>
            </a:r>
          </a:p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This project lays a solid foundation for future innovations in inclusive, AI-driven communication technology.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30485" y="955297"/>
            <a:ext cx="1142703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FUTURE ENHANCEMENTS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19692" y="2377388"/>
            <a:ext cx="12648617" cy="649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Future enhancements for the ISL recognition system include extending it to support dynamic gestures using models like LSTM or Transformers, enabling recognition of continuous and time-based signs. </a:t>
            </a:r>
          </a:p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Expanding the dataset with more diverse users and applying synthetic augmentation will improve generalization across varied conditions. </a:t>
            </a:r>
          </a:p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Improving robustness to lighting and background variations will enhance real-world performance. </a:t>
            </a:r>
          </a:p>
          <a:p>
            <a:pPr algn="just" marL="670684" indent="-335342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Lastly, adding multilingual TTS support and two-way communication features will make the system more interactive and inclusive for broader usage.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0" r="0" b="-55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9486" r="0" b="0"/>
          <a:stretch>
            <a:fillRect/>
          </a:stretch>
        </p:blipFill>
        <p:spPr>
          <a:xfrm flipH="false" flipV="false" rot="0">
            <a:off x="10635570" y="1547246"/>
            <a:ext cx="4629150" cy="7448874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622974" y="3107271"/>
            <a:ext cx="8682285" cy="482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7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THANK</a:t>
            </a:r>
          </a:p>
          <a:p>
            <a:pPr algn="ctr">
              <a:lnSpc>
                <a:spcPts val="17027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YOU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706592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700063" y="219873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700063" y="320526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39803" y="802897"/>
            <a:ext cx="1878613" cy="1814931"/>
          </a:xfrm>
          <a:custGeom>
            <a:avLst/>
            <a:gdLst/>
            <a:ahLst/>
            <a:cxnLst/>
            <a:rect r="r" b="b" t="t" l="l"/>
            <a:pathLst>
              <a:path h="1814931" w="1878613">
                <a:moveTo>
                  <a:pt x="0" y="0"/>
                </a:moveTo>
                <a:lnTo>
                  <a:pt x="1878613" y="0"/>
                </a:lnTo>
                <a:lnTo>
                  <a:pt x="1878613" y="1814931"/>
                </a:lnTo>
                <a:lnTo>
                  <a:pt x="0" y="18149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50" r="0" b="-55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DAGq4yQ3AC0</dc:identifier>
  <dcterms:modified xsi:type="dcterms:W3CDTF">2011-08-01T06:04:30Z</dcterms:modified>
  <cp:revision>1</cp:revision>
  <dc:title>mini project</dc:title>
</cp:coreProperties>
</file>